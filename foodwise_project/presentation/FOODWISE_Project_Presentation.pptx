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841248"/>
            <a:ext cx="109728" cy="4526280"/>
          </a:xfrm>
          <a:prstGeom prst="rect">
            <a:avLst/>
          </a:prstGeom>
          <a:solidFill>
            <a:srgbClr val="E2B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1115568"/>
            <a:ext cx="9966960" cy="3657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100" b="1">
                <a:solidFill>
                  <a:srgbClr val="B8D9CD"/>
                </a:solidFill>
                <a:latin typeface="Aptos"/>
              </a:defRPr>
            </a:pPr>
            <a:r>
              <a:t>KENYA · PUBLIC-DATA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00784"/>
            <a:ext cx="10058400" cy="102412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ptos Display"/>
              </a:defRPr>
            </a:pPr>
            <a:r>
              <a:t>FOODWISE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61488"/>
            <a:ext cx="9784080" cy="8229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CDE8DE"/>
                </a:solidFill>
                <a:latin typeface="Aptos"/>
              </a:defRPr>
            </a:pPr>
            <a:r>
              <a:t>Making healthy-food affordability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784080" cy="71323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Real market-price signals. Transparent household scenarios. Honest data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50992"/>
            <a:ext cx="996696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B8D9CD"/>
                </a:solidFill>
                <a:latin typeface="Aptos"/>
              </a:defRPr>
            </a:pPr>
            <a:r>
              <a:t>[Presenter name]  ·  [Email / phone]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0">
                <a:solidFill>
                  <a:srgbClr val="B8D9C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01 / THE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The affordability challenge is real—and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43.5–43.9M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32304"/>
            <a:ext cx="316382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People unable to afford a healthy diet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99815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FAO briefing figures · exact series/year to confirm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72768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801368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KSh 189–582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432304"/>
            <a:ext cx="316382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Estimated daily healthy-diet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099815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FAO / CoAHD briefing range · method-dependent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72768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01368"/>
            <a:ext cx="323697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432304"/>
            <a:ext cx="316382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Food &amp; Non-Alcoholic Beverages inflation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99815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KNBS · year-on-year · September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800" b="1">
                <a:solidFill>
                  <a:srgbClr val="143B3A"/>
                </a:solidFill>
                <a:latin typeface="Aptos"/>
              </a:defRPr>
            </a:pPr>
            <a:r>
              <a:t>The build starts from public data—not from pretending these sources are interchangeable.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82896"/>
            <a:ext cx="9875520" cy="65836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500" b="0">
                <a:solidFill>
                  <a:srgbClr val="62756F"/>
                </a:solidFill>
                <a:latin typeface="Aptos"/>
              </a:defRPr>
            </a:pPr>
            <a:r>
              <a:t>KNBS CPI is a national index. WFP provides market observations. FAO CoAHD uses its own diet-cost method.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79008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900" b="0">
                <a:solidFill>
                  <a:srgbClr val="62756F"/>
                </a:solidFill>
                <a:latin typeface="Aptos"/>
              </a:defRPr>
            </a:pPr>
            <a:r>
              <a:t>FAO figures above are included from the project brief; confirm the exact dataset, year and denominator before public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02 /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The prototype is built on a real WFP Kenya price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25603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300" b="1">
                <a:solidFill>
                  <a:srgbClr val="19745F"/>
                </a:solidFill>
                <a:latin typeface="Aptos"/>
              </a:defRPr>
            </a:pPr>
            <a:r>
              <a:t>27,897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56231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100" b="0">
                <a:solidFill>
                  <a:srgbClr val="62756F"/>
                </a:solidFill>
                <a:latin typeface="Aptos"/>
              </a:defRPr>
            </a:pPr>
            <a:r>
              <a:t>WFP source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304" y="1371600"/>
            <a:ext cx="25603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300" b="1">
                <a:solidFill>
                  <a:srgbClr val="19745F"/>
                </a:solidFill>
                <a:latin typeface="Aptos"/>
              </a:defRPr>
            </a:pPr>
            <a:r>
              <a:t>2006–2026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1856231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100" b="0">
                <a:solidFill>
                  <a:srgbClr val="62756F"/>
                </a:solidFill>
                <a:latin typeface="Aptos"/>
              </a:defRPr>
            </a:pPr>
            <a:r>
              <a:t>Recorded date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371600"/>
            <a:ext cx="25603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300" b="1">
                <a:solidFill>
                  <a:srgbClr val="19745F"/>
                </a:solidFill>
                <a:latin typeface="Aptos"/>
              </a:defRPr>
            </a:pPr>
            <a:r>
              <a:t>1,689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856231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100" b="0">
                <a:solidFill>
                  <a:srgbClr val="62756F"/>
                </a:solidFill>
                <a:latin typeface="Aptos"/>
              </a:defRPr>
            </a:pPr>
            <a:r>
              <a:t>Recent target-food rows since Oct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1371600"/>
            <a:ext cx="25603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300" b="1">
                <a:solidFill>
                  <a:srgbClr val="19745F"/>
                </a:solidFill>
                <a:latin typeface="Aptos"/>
              </a:defRPr>
            </a:pPr>
            <a:r>
              <a:t>15 Sep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1856231"/>
            <a:ext cx="256032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100" b="0">
                <a:solidFill>
                  <a:srgbClr val="62756F"/>
                </a:solidFill>
                <a:latin typeface="Aptos"/>
              </a:defRPr>
            </a:pPr>
            <a:r>
              <a:t>Latest WFP source date</a:t>
            </a:r>
          </a:p>
        </p:txBody>
      </p:sp>
      <p:pic>
        <p:nvPicPr>
          <p:cNvPr id="15" name="Picture 14" descr="recent_market_food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423160"/>
            <a:ext cx="6492240" cy="272513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06640" y="2514600"/>
            <a:ext cx="4023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679192"/>
            <a:ext cx="367588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What the chart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3136392"/>
            <a:ext cx="3657600" cy="11887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Coverage counts distinct target foods in recent retail observations. It is a snapshot of data availability—not evidence that one county is more expensive or more food insecure.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727448"/>
            <a:ext cx="3749039" cy="71323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Current WFP coverage includes markets in Garissa and Turkana, including refugee-camp 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486400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1">
                <a:solidFill>
                  <a:srgbClr val="A04D3F"/>
                </a:solidFill>
                <a:latin typeface="Aptos"/>
              </a:defRPr>
            </a:pPr>
            <a:r>
              <a:t>Not a Nairobi/Nyeri or county-representative retail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03 / PRICE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Price signals move by food, month and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ifo_pric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7269480" cy="30513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83879" y="1554480"/>
            <a:ext cx="33832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1719072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Monthly 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2176272"/>
            <a:ext cx="30175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000" b="0">
                <a:solidFill>
                  <a:srgbClr val="243A35"/>
                </a:solidFill>
                <a:latin typeface="Aptos"/>
              </a:defRPr>
            </a:pPr>
            <a:r>
              <a:t>Uses reported WFP Retail observations; explicit package units normalized per kg / litre.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862072"/>
            <a:ext cx="33832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3026664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One market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483864"/>
            <a:ext cx="30175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000" b="0">
                <a:solidFill>
                  <a:srgbClr val="243A35"/>
                </a:solidFill>
                <a:latin typeface="Aptos"/>
              </a:defRPr>
            </a:pPr>
            <a:r>
              <a:t>IFO (Daadab) · a source market, not a proxy for all households.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169663"/>
            <a:ext cx="3383280" cy="1170432"/>
          </a:xfrm>
          <a:prstGeom prst="roundRect">
            <a:avLst/>
          </a:prstGeom>
          <a:solidFill>
            <a:srgbClr val="FFF6E2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4334255"/>
            <a:ext cx="303580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9A6D16"/>
                </a:solidFill>
                <a:latin typeface="Aptos"/>
              </a:defRPr>
            </a:pPr>
            <a:r>
              <a:t>Interpret with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791455"/>
            <a:ext cx="3017520" cy="43891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000" b="0">
                <a:solidFill>
                  <a:srgbClr val="243A35"/>
                </a:solidFill>
                <a:latin typeface="Aptos"/>
              </a:defRPr>
            </a:pPr>
            <a:r>
              <a:t>Markets and record counts vary over time; this is not KNBS CPI or a causal diet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870448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000" b="0">
                <a:solidFill>
                  <a:srgbClr val="62756F"/>
                </a:solidFill>
                <a:latin typeface="Aptos"/>
              </a:defRPr>
            </a:pPr>
            <a:r>
              <a:t>Series shown: maize flour, dry beans and fresh cow milk. Exact dates, units and flags are available in the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04 /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Three linked modules turn prices into questions people can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520440" cy="2313432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700" b="1">
                <a:solidFill>
                  <a:srgbClr val="19745F"/>
                </a:solidFill>
                <a:latin typeface="Aptos"/>
              </a:defRPr>
            </a:pPr>
            <a:r>
              <a:t>01  Price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1581911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Browse food prices by market and month. Compare like-for-like units. Export the filtered source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520440" cy="2313432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700" b="1">
                <a:solidFill>
                  <a:srgbClr val="19745F"/>
                </a:solidFill>
                <a:latin typeface="Aptos"/>
              </a:defRPr>
            </a:pPr>
            <a:r>
              <a:t>02  Household Pressure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54680" cy="1581911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Change the basket quantities, household size and income. See the priced-item cost share and the observations behind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72768"/>
            <a:ext cx="3520440" cy="2313432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37360"/>
            <a:ext cx="317296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700" b="1">
                <a:solidFill>
                  <a:srgbClr val="19745F"/>
                </a:solidFill>
                <a:latin typeface="Aptos"/>
              </a:defRPr>
            </a:pPr>
            <a:r>
              <a:t>03  Diet Gap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94560"/>
            <a:ext cx="3154680" cy="1581911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Use expert-reviewed nutrient composition and population-specific references—without fabricating nutrient data from prices.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10241280" cy="62179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200" b="1">
                <a:solidFill>
                  <a:srgbClr val="19745F"/>
                </a:solidFill>
                <a:latin typeface="Aptos"/>
              </a:defRPr>
            </a:pPr>
            <a:r>
              <a:t>The key design choice: missing values remain visible as missing.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300" b="0">
                <a:solidFill>
                  <a:srgbClr val="62756F"/>
                </a:solidFill>
                <a:latin typeface="Aptos"/>
              </a:defRPr>
            </a:pPr>
            <a:r>
              <a:t>No silent zero prices · no invented nutrient scores · no CPI/market-price conflation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05 / HOUSEHOLD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A household scenario is now interactive—not a claimed healthy-diet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17904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314553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KSh 708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7439"/>
            <a:ext cx="307238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Weekly scenario per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7 of 7 items priced · 1 observation(s) older than 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17904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46504"/>
            <a:ext cx="314553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KSh 12,308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77439"/>
            <a:ext cx="307238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Monthly household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4495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4 people · illustrative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17904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746504"/>
            <a:ext cx="3145536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600" b="1">
                <a:solidFill>
                  <a:srgbClr val="19745F"/>
                </a:solidFill>
                <a:latin typeface="Aptos"/>
              </a:defRPr>
            </a:pPr>
            <a:r>
              <a:t>49.2%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77439"/>
            <a:ext cx="3072384" cy="60350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243A35"/>
                </a:solidFill>
                <a:latin typeface="Aptos"/>
              </a:defRPr>
            </a:pPr>
            <a:r>
              <a:t>Share of KSh 25,000 monthly 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44952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800" b="0">
                <a:solidFill>
                  <a:srgbClr val="62756F"/>
                </a:solidFill>
                <a:latin typeface="Aptos"/>
              </a:defRPr>
            </a:pPr>
            <a:r>
              <a:t>Prototype calculation · not a validated risk band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1"/>
            <a:ext cx="46817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Editable in the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53712"/>
            <a:ext cx="4663440" cy="68580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Food quantities · market · household size · income · watch / critical thresholds.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31920"/>
            <a:ext cx="5029200" cy="1417320"/>
          </a:xfrm>
          <a:prstGeom prst="roundRect">
            <a:avLst/>
          </a:prstGeom>
          <a:solidFill>
            <a:srgbClr val="FFF6E2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096511"/>
            <a:ext cx="46817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9A6D16"/>
                </a:solidFill>
                <a:latin typeface="Aptos"/>
              </a:defRPr>
            </a:pPr>
            <a:r>
              <a:t>Why the caveat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553712"/>
            <a:ext cx="4663440" cy="68580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The basket is a demonstration scenario. It is not an official FAO CoAHD basket or nutrition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42432"/>
            <a:ext cx="10241280" cy="31089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000" b="0">
                <a:solidFill>
                  <a:srgbClr val="62756F"/>
                </a:solidFill>
                <a:latin typeface="Aptos"/>
              </a:defRPr>
            </a:pPr>
            <a:r>
              <a:t>One or more source prices are more than 90 days older than the selected cutoff; check each date in the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06 / RESPONSIBLE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Diet-gap analysis requires nutrition data—not just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353312"/>
            <a:ext cx="438912" cy="438912"/>
          </a:xfrm>
          <a:prstGeom prst="ellipse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600" b="1">
                <a:solidFill>
                  <a:srgbClr val="143B3A"/>
                </a:solidFill>
                <a:latin typeface="Aptos"/>
              </a:defRPr>
            </a:pPr>
            <a:r>
              <a:t>Choose foods &amp; quantities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6583680" cy="521207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Same scenario inputs used by the household calculator.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404872"/>
            <a:ext cx="438912" cy="438912"/>
          </a:xfrm>
          <a:prstGeom prst="ellipse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0487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600" b="1">
                <a:solidFill>
                  <a:srgbClr val="143B3A"/>
                </a:solidFill>
                <a:latin typeface="Aptos"/>
              </a:defRPr>
            </a:pPr>
            <a:r>
              <a:t>Provide sourced 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6583680" cy="521207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Nutrient amounts per kg / litre / source unit, matched to foods.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456432"/>
            <a:ext cx="438912" cy="438912"/>
          </a:xfrm>
          <a:prstGeom prst="ellipse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5643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600" b="1">
                <a:solidFill>
                  <a:srgbClr val="143B3A"/>
                </a:solidFill>
                <a:latin typeface="Aptos"/>
              </a:defRPr>
            </a:pPr>
            <a:r>
              <a:t>Set a population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6583680" cy="521207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Expert-selected age / life-stage reference and source year.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507992"/>
            <a:ext cx="438912" cy="438912"/>
          </a:xfrm>
          <a:prstGeom prst="ellipse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99431"/>
            <a:ext cx="438912" cy="20116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600" b="1">
                <a:solidFill>
                  <a:srgbClr val="143B3A"/>
                </a:solidFill>
                <a:latin typeface="Aptos"/>
              </a:defRPr>
            </a:pPr>
            <a:r>
              <a:t>Compare transparently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79"/>
            <a:ext cx="6583680" cy="521207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Estimate contribution and remaining amount; show sources.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742432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A04D3F"/>
                </a:solidFill>
                <a:latin typeface="Aptos"/>
              </a:defRPr>
            </a:pPr>
            <a:r>
              <a:t>No composition dataset is bundled today; the interface waits for reviewed inputs rather than inventing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07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From official public files to an auditable live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WFP price CSV</a:t>
            </a:r>
            <a:br/>
            <a:r>
              <a:t>WFP market coordinates</a:t>
            </a:r>
            <a:br/>
            <a:r>
              <a:t>KNBS CPI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6974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800" b="1">
                <a:solidFill>
                  <a:srgbClr val="E2B44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874519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039112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49631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Required fields</a:t>
            </a:r>
            <a:br/>
            <a:r>
              <a:t>KES &amp; positive values</a:t>
            </a:r>
            <a:br/>
            <a:r>
              <a:t>Comparable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26974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800" b="1">
                <a:solidFill>
                  <a:srgbClr val="E2B44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874519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39112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9631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Monthly medians</a:t>
            </a:r>
            <a:br/>
            <a:r>
              <a:t>Latest market price</a:t>
            </a:r>
            <a:br/>
            <a:r>
              <a:t>Editable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26974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2800" b="1">
                <a:solidFill>
                  <a:srgbClr val="E2B44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1874519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2039112"/>
            <a:ext cx="2167128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400" b="1">
                <a:solidFill>
                  <a:srgbClr val="19745F"/>
                </a:solidFill>
                <a:latin typeface="Aptos"/>
              </a:defRPr>
            </a:pPr>
            <a:r>
              <a:t>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49631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300" b="0">
                <a:solidFill>
                  <a:srgbClr val="243A35"/>
                </a:solidFill>
                <a:latin typeface="Aptos"/>
              </a:defRPr>
            </a:pPr>
            <a:r>
              <a:t>Interactive Streamlit app</a:t>
            </a:r>
            <a:br/>
            <a:r>
              <a:t>Filtered CSV export</a:t>
            </a:r>
            <a:br/>
            <a:r>
              <a:t>PowerPoint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0916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500" b="1">
                <a:solidFill>
                  <a:srgbClr val="143B3A"/>
                </a:solidFill>
                <a:latin typeface="Aptos"/>
              </a:defRPr>
            </a:pPr>
            <a:r>
              <a:t>Auditable methods live in the project: source CSVs · unit conversions · tests · limitations · reproducible setup.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0">
                <a:solidFill>
                  <a:srgbClr val="62756F"/>
                </a:solidFill>
                <a:latin typeface="Aptos"/>
              </a:defRPr>
            </a:pPr>
            <a:r>
              <a:t>Run locally with Python + Streamlit. The app bundles the data and can filter an updated WFP-style 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27080" cy="237744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900" b="1">
                <a:solidFill>
                  <a:srgbClr val="19745F"/>
                </a:solidFill>
                <a:latin typeface="Aptos"/>
              </a:defRPr>
            </a:pPr>
            <a:r>
              <a:t>08 / NEXT 30–60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2700" b="1">
                <a:solidFill>
                  <a:srgbClr val="143B3A"/>
                </a:solidFill>
                <a:latin typeface="Aptos Display"/>
              </a:defRPr>
            </a:pPr>
            <a:r>
              <a:t>The next step is a validated county pilot—not a bigger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800" b="0">
                <a:solidFill>
                  <a:srgbClr val="62756F"/>
                </a:solidFill>
                <a:latin typeface="Aptos"/>
              </a:defRPr>
            </a:pPr>
            <a:r>
              <a:t>FOODWISE  |  Public-data concept · Kenya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1">
                <a:solidFill>
                  <a:srgbClr val="19745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9222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01 ·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2176272" cy="1737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County / market coverage</a:t>
            </a:r>
            <a:br/>
            <a:r>
              <a:t>Nutrition expert reviews basket</a:t>
            </a:r>
            <a:br/>
            <a:r>
              <a:t>Confirm CoAHD benchmarks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627632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79222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02 · Co-design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249424"/>
            <a:ext cx="2176272" cy="1737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Agree household groups</a:t>
            </a:r>
            <a:br/>
            <a:r>
              <a:t>Agree reference period</a:t>
            </a:r>
            <a:br/>
            <a:r>
              <a:t>Define usable outputs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627632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9222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03 ·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249424"/>
            <a:ext cx="2176272" cy="1737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Collect matched local prices</a:t>
            </a:r>
            <a:br/>
            <a:r>
              <a:t>Test with households &amp; partners</a:t>
            </a:r>
            <a:br/>
            <a:r>
              <a:t>Measure coverage and usability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9448" y="1627632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0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82328" y="179222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500" b="1">
                <a:solidFill>
                  <a:srgbClr val="19745F"/>
                </a:solidFill>
                <a:latin typeface="Aptos"/>
              </a:defRPr>
            </a:pPr>
            <a:r>
              <a:t>04 ·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8" y="2249424"/>
            <a:ext cx="2176272" cy="1737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>
              <a:defRPr sz="1200" b="0">
                <a:solidFill>
                  <a:srgbClr val="243A35"/>
                </a:solidFill>
                <a:latin typeface="Aptos"/>
              </a:defRPr>
            </a:pPr>
            <a:r>
              <a:t>Document limits and learnings</a:t>
            </a:r>
            <a:br/>
            <a:r>
              <a:t>Prioritize additional markets</a:t>
            </a:r>
            <a:br/>
            <a:r>
              <a:t>Scale only if evidence supports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28032"/>
            <a:ext cx="10149840" cy="59436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600" b="1">
                <a:solidFill>
                  <a:srgbClr val="19745F"/>
                </a:solidFill>
                <a:latin typeface="Aptos"/>
              </a:defRPr>
            </a:pPr>
            <a:r>
              <a:t>Pilot partners needed: one county team · a nutrition reviewer · trusted market-price enumerators.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987552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0">
                <a:solidFill>
                  <a:srgbClr val="62756F"/>
                </a:solidFill>
                <a:latin typeface="Aptos"/>
              </a:defRPr>
            </a:pPr>
            <a:r>
              <a:t>Success starts with credible local coverage and a validated basket, not dashboard complexity.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68680"/>
            <a:ext cx="1037844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200" b="1">
                <a:solidFill>
                  <a:srgbClr val="B8D9CD"/>
                </a:solidFill>
                <a:latin typeface="Aptos"/>
              </a:defRPr>
            </a:pPr>
            <a:r>
              <a:t>HEALTHY FOOD SHOULD NOT BE A LUXURY.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737360"/>
            <a:ext cx="10241280" cy="1325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FOODWISE makes the barriers visible so we can act on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03920" cy="56692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800" b="0">
                <a:solidFill>
                  <a:srgbClr val="CDE8DE"/>
                </a:solidFill>
                <a:latin typeface="Aptos"/>
              </a:defRPr>
            </a:pPr>
            <a:r>
              <a:t>Seeking county partners · nutrition mentors · a pilot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66360"/>
            <a:ext cx="8503920" cy="384048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[Presenter name]  ·  [Email]  ·  [Phone]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18288">
            <a:spAutoFit/>
          </a:bodyPr>
          <a:lstStyle/>
          <a:p>
            <a:pPr algn="r">
              <a:defRPr sz="900" b="0">
                <a:solidFill>
                  <a:srgbClr val="B8D9C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FOODWISE | Food affordability intelligence for Kenya</dc:title>
  <dc:subject>A public-data prototype and county-pilot proposal</dc:subject>
  <dc:creator>FOODWISE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