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28016" cy="4389120"/>
          </a:xfrm>
          <a:prstGeom prst="rect">
            <a:avLst/>
          </a:prstGeom>
          <a:solidFill>
            <a:srgbClr val="E7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996696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FOODWISE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67712"/>
            <a:ext cx="960120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0">
                <a:solidFill>
                  <a:srgbClr val="BCE5DA"/>
                </a:solidFill>
                <a:latin typeface="Aptos"/>
              </a:defRPr>
            </a:pPr>
            <a:r>
              <a:t>Making healthy food affordability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3364992"/>
            <a:ext cx="896112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A public-data concept and mini-prototype for Kenya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5486400"/>
            <a:ext cx="93268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0">
                <a:solidFill>
                  <a:srgbClr val="D5E2E9"/>
                </a:solidFill>
                <a:latin typeface="Aptos"/>
              </a:defRPr>
            </a:pPr>
            <a:r>
              <a:t>[Your name]  |  [Email / phone]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BCE5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5324B"/>
                </a:solidFill>
                <a:latin typeface="Aptos"/>
              </a:defRPr>
            </a:pPr>
            <a:r>
              <a:t>The problem | Healthy diets remain out of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9601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07586"/>
                </a:solidFill>
                <a:latin typeface="Aptos"/>
              </a:defRPr>
            </a:pPr>
            <a:r>
              <a:t>FOODWISE | Healthy food should not be a luxury.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1A8A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2148840"/>
          </a:xfrm>
          <a:prstGeom prst="roundRect">
            <a:avLst/>
          </a:prstGeom>
          <a:solidFill>
            <a:srgbClr val="E7F4F0"/>
          </a:solidFill>
          <a:ln>
            <a:solidFill>
              <a:srgbClr val="CF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3063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700" b="1">
                <a:solidFill>
                  <a:srgbClr val="1A8A83"/>
                </a:solidFill>
                <a:latin typeface="Aptos"/>
              </a:defRPr>
            </a:pPr>
            <a:r>
              <a:t>43.5–43.9M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15184"/>
            <a:ext cx="292608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500" b="0">
                <a:solidFill>
                  <a:srgbClr val="213547"/>
                </a:solidFill>
                <a:latin typeface="Aptos"/>
              </a:defRPr>
            </a:pPr>
            <a:r>
              <a:t>people, about 76–77%, cannot afford a healthy diet*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429000" cy="2148840"/>
          </a:xfrm>
          <a:prstGeom prst="roundRect">
            <a:avLst/>
          </a:prstGeom>
          <a:solidFill>
            <a:srgbClr val="E7F4F0"/>
          </a:solidFill>
          <a:ln>
            <a:solidFill>
              <a:srgbClr val="CF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56231"/>
            <a:ext cx="3063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700" b="1">
                <a:solidFill>
                  <a:srgbClr val="1A8A83"/>
                </a:solidFill>
                <a:latin typeface="Aptos"/>
              </a:defRPr>
            </a:pPr>
            <a:r>
              <a:t>KSh 189–582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615184"/>
            <a:ext cx="292608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500" b="0">
                <a:solidFill>
                  <a:srgbClr val="213547"/>
                </a:solidFill>
                <a:latin typeface="Aptos"/>
              </a:defRPr>
            </a:pPr>
            <a:r>
              <a:t>estimated daily cost of a healthy diet, depending on method*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429000" cy="2148840"/>
          </a:xfrm>
          <a:prstGeom prst="roundRect">
            <a:avLst/>
          </a:prstGeom>
          <a:solidFill>
            <a:srgbClr val="E7F4F0"/>
          </a:solidFill>
          <a:ln>
            <a:solidFill>
              <a:srgbClr val="CF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56231"/>
            <a:ext cx="3063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700" b="1">
                <a:solidFill>
                  <a:srgbClr val="1A8A83"/>
                </a:solidFill>
                <a:latin typeface="Aptos"/>
              </a:defRPr>
            </a:pPr>
            <a:r>
              <a:t>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615184"/>
            <a:ext cx="292608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500" b="0">
                <a:solidFill>
                  <a:srgbClr val="213547"/>
                </a:solidFill>
                <a:latin typeface="Aptos"/>
              </a:defRPr>
            </a:pPr>
            <a:r>
              <a:t>annual food and non-alcoholic beverages inflation, Sep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1560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607586"/>
                </a:solidFill>
                <a:latin typeface="Aptos"/>
              </a:defRPr>
            </a:pPr>
            <a:r>
              <a:t>*FAO figures supplied for this concept; confirm edition, year and method before publication.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5324B"/>
                </a:solidFill>
                <a:latin typeface="Aptos"/>
              </a:defRPr>
            </a:pPr>
            <a:r>
              <a:t>KNBS reports 9.5% year-on-year inflation for Food and Non-Alcoholic Beverages in September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5324B"/>
                </a:solidFill>
                <a:latin typeface="Aptos"/>
              </a:defRPr>
            </a:pPr>
            <a:r>
              <a:t>Why affordability breaks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9601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07586"/>
                </a:solidFill>
                <a:latin typeface="Aptos"/>
              </a:defRPr>
            </a:pPr>
            <a:r>
              <a:t>FOODWISE | Healthy food should not be a luxury.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1A8A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1">
                <a:solidFill>
                  <a:srgbClr val="1A8A83"/>
                </a:solidFill>
                <a:latin typeface="Aptos"/>
              </a:defRPr>
            </a:pPr>
            <a:r>
              <a:t>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90472"/>
            <a:ext cx="8138160" cy="7132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0">
                <a:solidFill>
                  <a:srgbClr val="213547"/>
                </a:solidFill>
                <a:latin typeface="Aptos"/>
              </a:defRPr>
            </a:pPr>
            <a:r>
              <a:t>Staple and nutritious food prices vary by place and month.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13432"/>
            <a:ext cx="9966960" cy="1828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1">
                <a:solidFill>
                  <a:srgbClr val="1A8A83"/>
                </a:solidFill>
                <a:latin typeface="Aptos"/>
              </a:defRPr>
            </a:pPr>
            <a: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16351"/>
            <a:ext cx="8138160" cy="7132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0">
                <a:solidFill>
                  <a:srgbClr val="213547"/>
                </a:solidFill>
                <a:latin typeface="Aptos"/>
              </a:defRPr>
            </a:pPr>
            <a:r>
              <a:t>Households face trade-offs between food, housing, transport and other essentials.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39311"/>
            <a:ext cx="9966960" cy="1828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1">
                <a:solidFill>
                  <a:srgbClr val="1A8A83"/>
                </a:solidFill>
                <a:latin typeface="Aptos"/>
              </a:defRPr>
            </a:pPr>
            <a:r>
              <a:t>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142232"/>
            <a:ext cx="8138160" cy="7132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0">
                <a:solidFill>
                  <a:srgbClr val="213547"/>
                </a:solidFill>
                <a:latin typeface="Aptos"/>
              </a:defRPr>
            </a:pPr>
            <a:r>
              <a:t>A price alone does not show the cost of a nutritious basket or the household's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5324B"/>
                </a:solidFill>
                <a:latin typeface="Aptos"/>
              </a:defRPr>
            </a:pPr>
            <a:r>
              <a:t>The solution | Three connected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9601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07586"/>
                </a:solidFill>
                <a:latin typeface="Aptos"/>
              </a:defRPr>
            </a:pPr>
            <a:r>
              <a:t>FOODWISE | Healthy food should not be a luxury.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1A8A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1">
                <a:solidFill>
                  <a:srgbClr val="1A8A83"/>
                </a:solidFill>
                <a:latin typeface="Aptos"/>
              </a:defRPr>
            </a:pPr>
            <a:r>
              <a:t>1. Price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058400" cy="7498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0">
                <a:solidFill>
                  <a:srgbClr val="213547"/>
                </a:solidFill>
                <a:latin typeface="Aptos"/>
              </a:defRPr>
            </a:pPr>
            <a:r>
              <a:t>Tracks market prices of staple and nutritious foods across counties using WFP + KNBS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1">
                <a:solidFill>
                  <a:srgbClr val="1A8A83"/>
                </a:solidFill>
                <a:latin typeface="Aptos"/>
              </a:defRPr>
            </a:pPr>
            <a:r>
              <a:t>2. Household Pressure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058400" cy="7498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0">
                <a:solidFill>
                  <a:srgbClr val="213547"/>
                </a:solidFill>
                <a:latin typeface="Aptos"/>
              </a:defRPr>
            </a:pPr>
            <a:r>
              <a:t>Estimates how much of a household’s income is needed for a healthy diet and flags when the share becomes dangerous (&gt;50–60%).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1">
                <a:solidFill>
                  <a:srgbClr val="1A8A83"/>
                </a:solidFill>
                <a:latin typeface="Aptos"/>
              </a:defRPr>
            </a:pPr>
            <a:r>
              <a:t>3. Diet Gap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27448"/>
            <a:ext cx="10058400" cy="7498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0">
                <a:solidFill>
                  <a:srgbClr val="213547"/>
                </a:solidFill>
                <a:latin typeface="Aptos"/>
              </a:defRPr>
            </a:pPr>
            <a:r>
              <a:t>Compares the cost of the cheapest calorie diet vs a healthy diet and highlights the most expensive nutrients (usually iron, calcium, vitamin B12, zinc).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5324B"/>
                </a:solidFill>
                <a:latin typeface="Aptos"/>
              </a:defRPr>
            </a:pPr>
            <a:r>
              <a:t>How it works | Ingest → Analyse → Visualise → Recommend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9601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07586"/>
                </a:solidFill>
                <a:latin typeface="Aptos"/>
              </a:defRPr>
            </a:pPr>
            <a:r>
              <a:t>FOODWISE | Healthy food should not be a luxury.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1A8A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423160" cy="1965960"/>
          </a:xfrm>
          <a:prstGeom prst="roundRect">
            <a:avLst/>
          </a:prstGeom>
          <a:solidFill>
            <a:srgbClr val="E7F4F0"/>
          </a:solidFill>
          <a:ln>
            <a:solidFill>
              <a:srgbClr val="CF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1488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1A8A83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210312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213547"/>
                </a:solidFill>
                <a:latin typeface="Aptos"/>
              </a:defRPr>
            </a:pPr>
            <a:r>
              <a:t>WFP market prices</a:t>
            </a:r>
            <a:br/>
            <a:r>
              <a:t>KNBS CPI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0944" y="2505456"/>
            <a:ext cx="393192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200" b="1">
                <a:solidFill>
                  <a:srgbClr val="E7B84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23160" cy="1965960"/>
          </a:xfrm>
          <a:prstGeom prst="roundRect">
            <a:avLst/>
          </a:prstGeom>
          <a:solidFill>
            <a:srgbClr val="E7F4F0"/>
          </a:solidFill>
          <a:ln>
            <a:solidFill>
              <a:srgbClr val="CF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21488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1A8A83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788920"/>
            <a:ext cx="210312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213547"/>
                </a:solidFill>
                <a:latin typeface="Aptos"/>
              </a:defRPr>
            </a:pPr>
            <a:r>
              <a:t>Clean units</a:t>
            </a:r>
            <a:br/>
            <a:r>
              <a:t>Compare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4" y="2505456"/>
            <a:ext cx="393192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200" b="1">
                <a:solidFill>
                  <a:srgbClr val="E7B84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423160" cy="1965960"/>
          </a:xfrm>
          <a:prstGeom prst="roundRect">
            <a:avLst/>
          </a:prstGeom>
          <a:solidFill>
            <a:srgbClr val="E7F4F0"/>
          </a:solidFill>
          <a:ln>
            <a:solidFill>
              <a:srgbClr val="CF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1488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1A8A83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788920"/>
            <a:ext cx="210312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213547"/>
                </a:solidFill>
                <a:latin typeface="Aptos"/>
              </a:defRPr>
            </a:pPr>
            <a:r>
              <a:t>Price signals</a:t>
            </a:r>
            <a:br/>
            <a:r>
              <a:t>Household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505456"/>
            <a:ext cx="393192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200" b="1">
                <a:solidFill>
                  <a:srgbClr val="E7B84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828800"/>
            <a:ext cx="2423160" cy="1965960"/>
          </a:xfrm>
          <a:prstGeom prst="roundRect">
            <a:avLst/>
          </a:prstGeom>
          <a:solidFill>
            <a:srgbClr val="E7F4F0"/>
          </a:solidFill>
          <a:ln>
            <a:solidFill>
              <a:srgbClr val="CF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48840"/>
            <a:ext cx="21488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1A8A83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788920"/>
            <a:ext cx="210312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213547"/>
                </a:solidFill>
                <a:latin typeface="Aptos"/>
              </a:defRPr>
            </a:pPr>
            <a:r>
              <a:t>Pilot priorities</a:t>
            </a:r>
            <a:br/>
            <a:r>
              <a:t>County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42416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5324B"/>
                </a:solidFill>
                <a:latin typeface="Aptos"/>
              </a:defRPr>
            </a:pPr>
            <a:r>
              <a:t>The first prototype uses public WFP observations; KNBS CPI provides national inflation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5324B"/>
                </a:solidFill>
                <a:latin typeface="Aptos"/>
              </a:defRPr>
            </a:pPr>
            <a:r>
              <a:t>Who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9601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07586"/>
                </a:solidFill>
                <a:latin typeface="Aptos"/>
              </a:defRPr>
            </a:pPr>
            <a:r>
              <a:t>FOODWISE | Healthy food should not be a luxury.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1A8A8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2461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100" b="1">
                <a:solidFill>
                  <a:srgbClr val="1A8A83"/>
                </a:solidFill>
                <a:latin typeface="Aptos"/>
              </a:defRPr>
            </a:pPr>
            <a:r>
              <a:t>Households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97180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213547"/>
                </a:solidFill>
                <a:latin typeface="Aptos"/>
              </a:defRPr>
            </a:pPr>
            <a:r>
              <a:t>Understand how food costs compare with income and where prices are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2461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100" b="1">
                <a:solidFill>
                  <a:srgbClr val="1A8A83"/>
                </a:solidFill>
                <a:latin typeface="Aptos"/>
              </a:defRPr>
            </a:pPr>
            <a:r>
              <a:t>Counties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06040"/>
            <a:ext cx="297180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213547"/>
                </a:solidFill>
                <a:latin typeface="Aptos"/>
              </a:defRPr>
            </a:pPr>
            <a:r>
              <a:t>See market-level signals that can inform monitoring and pilot targeting.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28800"/>
            <a:ext cx="32461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100" b="1">
                <a:solidFill>
                  <a:srgbClr val="1A8A83"/>
                </a:solidFill>
                <a:latin typeface="Aptos"/>
              </a:defRPr>
            </a:pPr>
            <a:r>
              <a:t>NGOs &amp;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06040"/>
            <a:ext cx="297180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213547"/>
                </a:solidFill>
                <a:latin typeface="Aptos"/>
              </a:defRPr>
            </a:pPr>
            <a:r>
              <a:t>Use a shared evidence base to focus nutrition and livelihood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0584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900" b="1">
                <a:solidFill>
                  <a:srgbClr val="15324B"/>
                </a:solidFill>
                <a:latin typeface="Aptos"/>
              </a:defRPr>
            </a:pPr>
            <a:r>
              <a:t>Next step: co-design a county-level pilot with local price and nutrition partners.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5324B"/>
                </a:solidFill>
                <a:latin typeface="Aptos"/>
              </a:defRPr>
            </a:pPr>
            <a:r>
              <a:t>Where we are | Concept +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9601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07586"/>
                </a:solidFill>
                <a:latin typeface="Aptos"/>
              </a:defRPr>
            </a:pPr>
            <a:r>
              <a:t>FOODWISE | Healthy food should not be a luxury.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1A8A8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33856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5324B"/>
                </a:solidFill>
                <a:latin typeface="Aptos"/>
              </a:defRPr>
            </a:pPr>
            <a:r>
              <a:t>WFP price trends (monthly median by item; reported markets)</a:t>
            </a:r>
          </a:p>
        </p:txBody>
      </p:sp>
      <p:pic>
        <p:nvPicPr>
          <p:cNvPr id="7" name="Picture 6" descr="trend_maize_f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3319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828800"/>
            <a:ext cx="3886200" cy="1920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0">
                <a:solidFill>
                  <a:srgbClr val="213547"/>
                </a:solidFill>
                <a:latin typeface="Aptos"/>
              </a:defRPr>
            </a:pPr>
            <a:r>
              <a:t>Live spreadsheet prototype</a:t>
            </a:r>
            <a:br/>
            <a:r>
              <a:t>• Price trends from WFP Kenya data</a:t>
            </a:r>
            <a:br/>
            <a:r>
              <a:t>• Editable household basket</a:t>
            </a:r>
            <a:br/>
            <a:r>
              <a:t>• Income-share pressure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4069080"/>
            <a:ext cx="379476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300" b="0">
                <a:solidFill>
                  <a:srgbClr val="607586"/>
                </a:solidFill>
                <a:latin typeface="Aptos"/>
              </a:defRPr>
            </a:pPr>
            <a:r>
              <a:t>Coverage is uneven; recent multi-item examples include camp markets, not Nairobi or Nyeri.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A8A83"/>
                </a:solidFill>
                <a:latin typeface="Aptos"/>
              </a:defRPr>
            </a:pPr>
            <a:r>
              <a:t>Prototype ready; next: validate the basket, add county coverage and run a pilot.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5324B"/>
                </a:solidFill>
                <a:latin typeface="Aptos"/>
              </a:defRPr>
            </a:pPr>
            <a:r>
              <a:t>Healthy food should not be a luxury.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9601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07586"/>
                </a:solidFill>
                <a:latin typeface="Aptos"/>
              </a:defRPr>
            </a:pPr>
            <a:r>
              <a:t>FOODWISE | Healthy food should not be a luxury.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1A8A8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87552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900" b="1">
                <a:solidFill>
                  <a:srgbClr val="1A8A83"/>
                </a:solidFill>
                <a:latin typeface="Aptos"/>
              </a:defRPr>
            </a:pPr>
            <a:r>
              <a:t>FOODWISE makes the barriers visible so we can act on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383280"/>
            <a:ext cx="932688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000" b="0">
                <a:solidFill>
                  <a:srgbClr val="15324B"/>
                </a:solidFill>
                <a:latin typeface="Aptos"/>
              </a:defRPr>
            </a:pPr>
            <a:r>
              <a:t>Seeking county partners, nutrition mentors and a pilot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754880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600" b="0">
                <a:solidFill>
                  <a:srgbClr val="607586"/>
                </a:solidFill>
                <a:latin typeface="Aptos"/>
              </a:defRPr>
            </a:pPr>
            <a:r>
              <a:t>[Your name]  |  [Email]  |  [Phone]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